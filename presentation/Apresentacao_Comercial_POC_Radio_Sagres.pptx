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-182880" y="5897880"/>
            <a:ext cx="523227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0347" y="5948172"/>
            <a:ext cx="523227" cy="3681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3574" y="5984988"/>
            <a:ext cx="523227" cy="1347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386801" y="5984988"/>
            <a:ext cx="523228" cy="1347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910029" y="5948172"/>
            <a:ext cx="523227" cy="3681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433256" y="5897880"/>
            <a:ext cx="523227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56483" y="5847588"/>
            <a:ext cx="523228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479711" y="5810771"/>
            <a:ext cx="523227" cy="36817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002938" y="5797296"/>
            <a:ext cx="523227" cy="13475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165" y="5797296"/>
            <a:ext cx="523228" cy="13475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49393" y="5810771"/>
            <a:ext cx="523227" cy="36817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2620" y="5847588"/>
            <a:ext cx="523227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5897880"/>
            <a:ext cx="523227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19074" y="5948172"/>
            <a:ext cx="523228" cy="3681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42302" y="5984988"/>
            <a:ext cx="523227" cy="1347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65529" y="5984988"/>
            <a:ext cx="523227" cy="1347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188756" y="5948172"/>
            <a:ext cx="523228" cy="36816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11984" y="5897880"/>
            <a:ext cx="523227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235211" y="5847588"/>
            <a:ext cx="523227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758438" y="5810771"/>
            <a:ext cx="523228" cy="36817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281666" y="5797296"/>
            <a:ext cx="523227" cy="13475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04893" y="5797296"/>
            <a:ext cx="523227" cy="13475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328120" y="5810771"/>
            <a:ext cx="523227" cy="36817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851347" y="5847588"/>
            <a:ext cx="523228" cy="50292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-182880" y="609904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0347" y="6135624"/>
            <a:ext cx="523227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3574" y="6162399"/>
            <a:ext cx="523227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86801" y="6162399"/>
            <a:ext cx="523228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10029" y="6135624"/>
            <a:ext cx="523227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433256" y="609904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956483" y="6062472"/>
            <a:ext cx="523228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479711" y="6035696"/>
            <a:ext cx="523227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02938" y="6025896"/>
            <a:ext cx="523227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26165" y="6025896"/>
            <a:ext cx="523228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49393" y="6035696"/>
            <a:ext cx="523227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72620" y="6062472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5847" y="609904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19074" y="6135624"/>
            <a:ext cx="523228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42302" y="6162399"/>
            <a:ext cx="523227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665529" y="6162399"/>
            <a:ext cx="523227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188756" y="6135624"/>
            <a:ext cx="523228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711984" y="609904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235211" y="6062472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758438" y="6035696"/>
            <a:ext cx="523228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281666" y="6025896"/>
            <a:ext cx="523227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804893" y="6025896"/>
            <a:ext cx="523227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328120" y="6035696"/>
            <a:ext cx="523227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851347" y="6062472"/>
            <a:ext cx="523228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sagres-am730-logo.jpg"/>
          <p:cNvPicPr>
            <a:picLocks noChangeAspect="1"/>
          </p:cNvPicPr>
          <p:nvPr/>
        </p:nvPicPr>
        <p:blipFill>
          <a:blip r:embed="rId2"/>
          <a:srcRect t="427" b="427"/>
          <a:stretch>
            <a:fillRect/>
          </a:stretch>
        </p:blipFill>
        <p:spPr>
          <a:xfrm>
            <a:off x="548640" y="411480"/>
            <a:ext cx="2423160" cy="11704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94360" y="1938528"/>
            <a:ext cx="658368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SAGRES NO BOLSO.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2651760"/>
            <a:ext cx="57607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CAF26"/>
                </a:solidFill>
                <a:latin typeface="Calibri"/>
              </a:rPr>
              <a:t>Ao vivo, em tom maior.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3310128"/>
            <a:ext cx="534924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FFE2D8"/>
                </a:solidFill>
                <a:latin typeface="Calibri"/>
              </a:rPr>
              <a:t>Uma proposta de canal digital próprio para aproximar audiência, conteúdo e marca.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9520" y="530352"/>
            <a:ext cx="3822191" cy="5806440"/>
          </a:xfrm>
          <a:prstGeom prst="roundRect">
            <a:avLst/>
          </a:prstGeom>
          <a:solidFill>
            <a:srgbClr val="36231F"/>
          </a:solidFill>
          <a:ln>
            <a:solidFill>
              <a:srgbClr val="362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57031" y="667512"/>
            <a:ext cx="2584094" cy="5541264"/>
          </a:xfrm>
          <a:prstGeom prst="roundRect">
            <a:avLst/>
          </a:prstGeom>
          <a:solidFill>
            <a:srgbClr val="36231F"/>
          </a:solidFill>
          <a:ln>
            <a:solidFill>
              <a:srgbClr val="362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app-play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749808"/>
            <a:ext cx="2419502" cy="537667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94360" y="6291072"/>
            <a:ext cx="393192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POC FLUTTER • JULHO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OPORTUNIDADE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O áudio já é digital.
A relação também pode 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Hoje, o stream entrega conteúdo. O aplicativo pode entregar experiência, vínculo e recorrência.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80360"/>
            <a:ext cx="34015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384048" cy="38404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983B2E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Acesso direto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59352"/>
            <a:ext cx="3072384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Um ícone da Sagres na tela do ouvinte, sem depender da jornada de terceiros.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880360"/>
            <a:ext cx="34015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3063240"/>
            <a:ext cx="384048" cy="38404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5409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75304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Presença contínua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959352"/>
            <a:ext cx="3072384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Áudio em segundo plano mantém a marca presente no cotidiano.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2880360"/>
            <a:ext cx="34015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3063240"/>
            <a:ext cx="384048" cy="384048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05409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75304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Base para crescer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59352"/>
            <a:ext cx="3072384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Programação, notícias, podcasts e relacionamento podem evoluir no mesmo canal.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696712"/>
            <a:ext cx="81381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983B2E"/>
                </a:solidFill>
                <a:latin typeface="Calibri"/>
              </a:rPr>
              <a:t>CANAL PRÓPRIO  →  EXPERIÊNCIA  →  RELACIONAMENTO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F26"/>
                </a:solidFill>
                <a:latin typeface="Calibri"/>
              </a:rPr>
              <a:t>PROPOSTA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Uma porta de entrada simples
para todo o universo Sagres.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DED3"/>
                </a:solidFill>
                <a:latin typeface="Calibri"/>
              </a:rPr>
              <a:t>Começar pelo hábito mais forte — ouvir ao vivo — e evoluir conforme a estratégia de conteúdo.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52928"/>
            <a:ext cx="10881360" cy="228600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2148840" cy="1188720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19856"/>
            <a:ext cx="19659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983B2E"/>
                </a:solidFill>
                <a:latin typeface="Calibri"/>
              </a:rPr>
              <a:t>RÁDIO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19659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983B2E"/>
                </a:solidFill>
                <a:latin typeface="Calibri"/>
              </a:rPr>
              <a:t>já validado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575304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3246120"/>
            <a:ext cx="2148840" cy="1188720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7" y="3419856"/>
            <a:ext cx="19659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983B2E"/>
                </a:solidFill>
                <a:latin typeface="Calibri"/>
              </a:rPr>
              <a:t>PROGRAMAÇÃO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7" y="3822191"/>
            <a:ext cx="19659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983B2E"/>
                </a:solidFill>
                <a:latin typeface="Calibri"/>
              </a:rPr>
              <a:t>experiência pronta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75304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3246120"/>
            <a:ext cx="2148840" cy="1188720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419856"/>
            <a:ext cx="19659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983B2E"/>
                </a:solidFill>
                <a:latin typeface="Calibri"/>
              </a:rPr>
              <a:t>NOTÍCIAS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3822191"/>
            <a:ext cx="19659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983B2E"/>
                </a:solidFill>
                <a:latin typeface="Calibri"/>
              </a:rPr>
              <a:t>experiência pronta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575304"/>
            <a:ext cx="38404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3246120"/>
            <a:ext cx="2148840" cy="1188720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3419856"/>
            <a:ext cx="19659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983B2E"/>
                </a:solidFill>
                <a:latin typeface="Calibri"/>
              </a:rPr>
              <a:t>OUVINTE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3822191"/>
            <a:ext cx="19659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983B2E"/>
                </a:solidFill>
                <a:latin typeface="Calibri"/>
              </a:rPr>
              <a:t>visão futura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32704"/>
            <a:ext cx="850392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FCAF26"/>
                </a:solidFill>
                <a:latin typeface="Calibri"/>
              </a:rPr>
              <a:t>Começar pequeno. </a:t>
            </a:r>
            <a:r>
              <a:rPr sz="2000" b="1">
                <a:solidFill>
                  <a:srgbClr val="FFFFFF"/>
                </a:solidFill>
                <a:latin typeface="Calibri"/>
              </a:rPr>
              <a:t>Validar rápido. </a:t>
            </a:r>
            <a:r>
              <a:rPr sz="2000" b="1">
                <a:solidFill>
                  <a:srgbClr val="FCAF26"/>
                </a:solidFill>
                <a:latin typeface="Calibri"/>
              </a:rPr>
              <a:t>Evoluir com evidências.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PROVA DE CONCEITO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O que já foi validado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Não é apenas uma tela: o fluxo principal funciona de ponta a ponta.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2316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384048" cy="38404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9689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983B2E"/>
                </a:solidFill>
                <a:latin typeface="Calibr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18104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Stream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3072384" cy="2103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Reprodução do áudio oficial Sagres em MP3.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42316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2606040"/>
            <a:ext cx="384048" cy="38404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59689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18104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Segundo plano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02152"/>
            <a:ext cx="3072384" cy="2103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Controles de mídia e continuidade no sistema.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242316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2606040"/>
            <a:ext cx="384048" cy="384048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59689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18104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Estado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02152"/>
            <a:ext cx="3072384" cy="2103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Ondas, equalizador e glow seguem o áudio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87368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270248"/>
            <a:ext cx="384048" cy="38404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61104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983B2E"/>
                </a:solidFill>
                <a:latin typeface="Calibri"/>
              </a:rPr>
              <a:t>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82312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Resiliência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66359"/>
            <a:ext cx="3072384" cy="2103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Loading, falha de rede e tentativa novamente.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1688" y="4087368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26280" y="4270248"/>
            <a:ext cx="384048" cy="38404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261104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782312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Quatro áreas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66359"/>
            <a:ext cx="3072384" cy="2103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Início, Programação, Notícias e Você.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6448" y="4087368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21040" y="4270248"/>
            <a:ext cx="384048" cy="384048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261104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782312"/>
            <a:ext cx="3072384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36231F"/>
                </a:solidFill>
                <a:latin typeface="Calibri"/>
              </a:rPr>
              <a:t>Qualidade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166359"/>
            <a:ext cx="3072384" cy="2103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05B56"/>
                </a:solidFill>
                <a:latin typeface="Calibri"/>
              </a:rPr>
              <a:t>Arquitetura testável, suíte local e fluxo E2E.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F26"/>
                </a:solidFill>
                <a:latin typeface="Calibri"/>
              </a:rPr>
              <a:t>EXPERIÊNCIA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estado do áudio
também é visual.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DED3"/>
                </a:solidFill>
                <a:latin typeface="Calibri"/>
              </a:rPr>
              <a:t>A interface comunica com clareza quando está tocando e quando está pausada.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9672" y="1014983"/>
            <a:ext cx="2530602" cy="5422392"/>
          </a:xfrm>
          <a:prstGeom prst="roundRect">
            <a:avLst/>
          </a:prstGeom>
          <a:solidFill>
            <a:srgbClr val="36231F"/>
          </a:solidFill>
          <a:ln>
            <a:solidFill>
              <a:srgbClr val="362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pp-play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097280"/>
            <a:ext cx="2366010" cy="5257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48272" y="5916168"/>
            <a:ext cx="2073402" cy="29260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5934456"/>
            <a:ext cx="207340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983B2E"/>
                </a:solidFill>
                <a:latin typeface="Calibri"/>
              </a:rPr>
              <a:t>TOCANDO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4" y="1014983"/>
            <a:ext cx="2530602" cy="5422392"/>
          </a:xfrm>
          <a:prstGeom prst="roundRect">
            <a:avLst/>
          </a:prstGeom>
          <a:solidFill>
            <a:srgbClr val="36231F"/>
          </a:solidFill>
          <a:ln>
            <a:solidFill>
              <a:srgbClr val="362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-pau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097280"/>
            <a:ext cx="2366010" cy="5257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427464" y="5916168"/>
            <a:ext cx="2073402" cy="29260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5934456"/>
            <a:ext cx="2073402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983B2E"/>
                </a:solidFill>
                <a:latin typeface="Calibri"/>
              </a:rPr>
              <a:t>PAUSADA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816352"/>
            <a:ext cx="228600" cy="228600"/>
          </a:xfrm>
          <a:prstGeom prst="ellipse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706624"/>
            <a:ext cx="498348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Ondas e equalizador animados em reprodução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3474720"/>
            <a:ext cx="228600" cy="228600"/>
          </a:xfrm>
          <a:prstGeom prst="ellipse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364991"/>
            <a:ext cx="498348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Botão amarelo pulsa como feedback de atividade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133087"/>
            <a:ext cx="228600" cy="228600"/>
          </a:xfrm>
          <a:prstGeom prst="ellipse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23360"/>
            <a:ext cx="498348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Todas as animações param ao pausar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791456"/>
            <a:ext cx="228600" cy="228600"/>
          </a:xfrm>
          <a:prstGeom prst="ellipse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681728"/>
            <a:ext cx="4983480" cy="4297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Identidade inspirada no Cerrado e na navegação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JORNADA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Três toques. Uma relação contínua.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A proposta reduz atrito e torna a Sagres acessível em qualquer momento.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3246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52928"/>
            <a:ext cx="694944" cy="694944"/>
          </a:xfrm>
          <a:prstGeom prst="ellipse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694944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983B2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0752"/>
            <a:ext cx="2651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983B2E"/>
                </a:solidFill>
                <a:latin typeface="Calibri"/>
              </a:rPr>
              <a:t>ABRIR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33087"/>
            <a:ext cx="2651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A marca já está na tela inicial do celular.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456432"/>
            <a:ext cx="411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983B2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560320"/>
            <a:ext cx="3246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36592" y="2852928"/>
            <a:ext cx="694944" cy="694944"/>
          </a:xfrm>
          <a:prstGeom prst="ellipse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907792"/>
            <a:ext cx="694944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983B2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730752"/>
            <a:ext cx="2651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983B2E"/>
                </a:solidFill>
                <a:latin typeface="Calibri"/>
              </a:rPr>
              <a:t>OUVIR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133087"/>
            <a:ext cx="2651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Um toque inicia a transmissão oficial.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456432"/>
            <a:ext cx="411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983B2E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2560320"/>
            <a:ext cx="3246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58784" y="2852928"/>
            <a:ext cx="694944" cy="694944"/>
          </a:xfrm>
          <a:prstGeom prst="ellipse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58784" y="2907792"/>
            <a:ext cx="694944" cy="47548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983B2E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730752"/>
            <a:ext cx="2651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983B2E"/>
                </a:solidFill>
                <a:latin typeface="Calibri"/>
              </a:rPr>
              <a:t>CONTINUAR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4133087"/>
            <a:ext cx="2651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O áudio segue no bolso, na tela bloqueada e no fone.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F26"/>
                </a:solidFill>
                <a:latin typeface="Calibri"/>
              </a:rPr>
              <a:t>VALOR PARA O OUVINTE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Mais fácil ouvir.
Mais fácil permanecer.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DED3"/>
                </a:solidFill>
                <a:latin typeface="Calibri"/>
              </a:rPr>
              <a:t>A tecnologia fica em segundo plano para o conteúdo ocupar o centro da experiência.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2926080"/>
            <a:ext cx="384048" cy="38404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983B2E"/>
                </a:solidFill>
                <a:latin typeface="Calibri"/>
              </a:rPr>
              <a:t>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Conveniência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Acesso direto ao vivo, sem procurar a página certa.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926080"/>
            <a:ext cx="384048" cy="38404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Continuidade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Áudio em segundo plano durante outras atividades.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2926080"/>
            <a:ext cx="384048" cy="384048"/>
          </a:xfrm>
          <a:prstGeom prst="roundRect">
            <a:avLst/>
          </a:prstGeom>
          <a:solidFill>
            <a:srgbClr val="D67430"/>
          </a:solidFill>
          <a:ln>
            <a:solidFill>
              <a:srgbClr val="D6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Programa atual e próximos conteúdos no mesmo lugar.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2926080"/>
            <a:ext cx="384048" cy="384048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Proximidade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Uma base futura para favoritos e relacionamento.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VALOR PARA A SAGRES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Um ativo digital próprio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A POC abre espaço para uma estratégia de produto, conteúdo e relacionamento.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487168"/>
            <a:ext cx="109728" cy="1261872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983B2E"/>
                </a:solidFill>
                <a:latin typeface="Calibri"/>
              </a:rPr>
              <a:t>MARCA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670048"/>
            <a:ext cx="26974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Presença recorrente no dispositivo do ouvinte.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487168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2487168"/>
            <a:ext cx="109728" cy="1261872"/>
          </a:xfrm>
          <a:prstGeom prst="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715768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983B2E"/>
                </a:solidFill>
                <a:latin typeface="Calibri"/>
              </a:rPr>
              <a:t>CONTEÚDO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670048"/>
            <a:ext cx="26974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Distribuição integrada de rádio, notícias e podcasts.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59936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59936"/>
            <a:ext cx="109728" cy="1261872"/>
          </a:xfrm>
          <a:prstGeom prst="rect">
            <a:avLst/>
          </a:prstGeom>
          <a:solidFill>
            <a:srgbClr val="D67430"/>
          </a:solidFill>
          <a:ln>
            <a:solidFill>
              <a:srgbClr val="D6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88536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983B2E"/>
                </a:solidFill>
                <a:latin typeface="Calibri"/>
              </a:rPr>
              <a:t>RELACIONAMENTO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242816"/>
            <a:ext cx="26974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Canal direto para preferências e comunicação futura.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059936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4059936"/>
            <a:ext cx="109728" cy="1261872"/>
          </a:xfrm>
          <a:prstGeom prst="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288536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983B2E"/>
                </a:solidFill>
                <a:latin typeface="Calibri"/>
              </a:rPr>
              <a:t>APRENDIZADO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4242816"/>
            <a:ext cx="26974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705B56"/>
                </a:solidFill>
                <a:latin typeface="Calibri"/>
              </a:rPr>
              <a:t>Base para entender jornadas e melhorar a oferta.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99669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83B2E"/>
                </a:solidFill>
                <a:latin typeface="Calibri"/>
              </a:rPr>
              <a:t>A POC valida a fundação. O retorno comercial depende da estratégia de produto e operação.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F26"/>
                </a:solidFill>
                <a:latin typeface="Calibri"/>
              </a:rPr>
              <a:t>POTENCIAL COMERCIAL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Novas superfícies,
sem interromper a experiência.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DED3"/>
                </a:solidFill>
                <a:latin typeface="Calibri"/>
              </a:rPr>
              <a:t>Possibilidades a validar com programação, comercial e audiência.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2926080"/>
            <a:ext cx="384048" cy="38404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983B2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Programa apresentado por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Assinatura contextual na tela do programa.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926080"/>
            <a:ext cx="384048" cy="38404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Conteúdo patrocinado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Cards editoriais claramente identificados.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2926080"/>
            <a:ext cx="384048" cy="384048"/>
          </a:xfrm>
          <a:prstGeom prst="roundRect">
            <a:avLst/>
          </a:prstGeom>
          <a:solidFill>
            <a:srgbClr val="D67430"/>
          </a:solidFill>
          <a:ln>
            <a:solidFill>
              <a:srgbClr val="D6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Podcast de marca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Séries especiais disponíveis sob demanda.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2743200"/>
            <a:ext cx="2450592" cy="23317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2926080"/>
            <a:ext cx="384048" cy="384048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916936"/>
            <a:ext cx="384048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438144"/>
            <a:ext cx="212140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Campanha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822191"/>
            <a:ext cx="2121408" cy="112471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E2D8"/>
                </a:solidFill>
                <a:latin typeface="Calibri"/>
              </a:rPr>
              <a:t>Ativações conectadas a Goiás e à comunidade.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05272"/>
            <a:ext cx="85039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CAF26"/>
                </a:solidFill>
                <a:latin typeface="Calibri"/>
              </a:rPr>
              <a:t>HIPÓTESES COMERCIAIS • NÃO INCLUÍDAS NA POC ATUAL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TECNOLOGIA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Uma fundação preparada para evoluir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Arquitetura hexagonal separa experiência, regras e integrações.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6446520" cy="566928"/>
          </a:xfrm>
          <a:prstGeom prst="round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83B2E"/>
                </a:solidFill>
                <a:latin typeface="Calibri"/>
              </a:rPr>
              <a:t>EXPERIÊNCIA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68880"/>
            <a:ext cx="4206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983B2E"/>
                </a:solidFill>
                <a:latin typeface="Calibri"/>
              </a:rPr>
              <a:t>Flutter • telas • animações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136392"/>
            <a:ext cx="5897880" cy="566928"/>
          </a:xfrm>
          <a:prstGeom prst="roundRect">
            <a:avLst/>
          </a:prstGeom>
          <a:solidFill>
            <a:srgbClr val="F58229"/>
          </a:solidFill>
          <a:ln>
            <a:solidFill>
              <a:srgbClr val="F58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27832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83B2E"/>
                </a:solidFill>
                <a:latin typeface="Calibri"/>
              </a:rPr>
              <a:t>APLICAÇÃO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227832"/>
            <a:ext cx="3703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983B2E"/>
                </a:solidFill>
                <a:latin typeface="Calibri"/>
              </a:rPr>
              <a:t>estado • comandos • tratamento de falhas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895344"/>
            <a:ext cx="5349240" cy="566928"/>
          </a:xfrm>
          <a:prstGeom prst="roundRect">
            <a:avLst/>
          </a:prstGeom>
          <a:solidFill>
            <a:srgbClr val="D67430"/>
          </a:solidFill>
          <a:ln>
            <a:solidFill>
              <a:srgbClr val="D6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986783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83B2E"/>
                </a:solidFill>
                <a:latin typeface="Calibri"/>
              </a:rPr>
              <a:t>DOMÍNIO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3986783"/>
            <a:ext cx="320039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983B2E"/>
                </a:solidFill>
                <a:latin typeface="Calibri"/>
              </a:rPr>
              <a:t>estação • player • programação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4654296"/>
            <a:ext cx="4800600" cy="566928"/>
          </a:xfrm>
          <a:prstGeom prst="roundRect">
            <a:avLst/>
          </a:prstGeom>
          <a:solidFill>
            <a:srgbClr val="DD592D"/>
          </a:solidFill>
          <a:ln>
            <a:solidFill>
              <a:srgbClr val="DD5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745736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983B2E"/>
                </a:solidFill>
                <a:latin typeface="Calibri"/>
              </a:rPr>
              <a:t>ADAPTADORES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745736"/>
            <a:ext cx="269747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983B2E"/>
                </a:solidFill>
                <a:latin typeface="Calibri"/>
              </a:rPr>
              <a:t>áudio nativo • dados em memória • APIs futuras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331720"/>
            <a:ext cx="3429000" cy="3246120"/>
          </a:xfrm>
          <a:prstGeom prst="round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27432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CAF26"/>
                </a:solidFill>
                <a:latin typeface="Calibri"/>
              </a:rPr>
              <a:t>POR QUE IMPORTA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82112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CAF26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127248"/>
            <a:ext cx="23317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Trocar a fonte de dados sem refazer as telas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94176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CAF26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639312"/>
            <a:ext cx="23317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Testar regras sem depender da internet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06240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CAF26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4151376"/>
            <a:ext cx="23317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Adicionar backend quando houver necessidade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18304"/>
            <a:ext cx="274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CAF26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4663440"/>
            <a:ext cx="23317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Manter Android e iOS na mesma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CAF26"/>
                </a:solidFill>
                <a:latin typeface="Calibri"/>
              </a:rPr>
              <a:t>CONFIANÇA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Evidências antes da próxima etapa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DED3"/>
                </a:solidFill>
                <a:latin typeface="Calibri"/>
              </a:rPr>
              <a:t>A POC foi construída para demonstrar e também para ser verificada.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51760"/>
            <a:ext cx="2450592" cy="242316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907792"/>
            <a:ext cx="2176272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 i="0">
                <a:solidFill>
                  <a:srgbClr val="FCAF26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85032"/>
            <a:ext cx="212140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testes automatizados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160520"/>
            <a:ext cx="2084831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DED3"/>
                </a:solidFill>
                <a:latin typeface="Calibri"/>
              </a:rPr>
              <a:t>regras, estado visual e navegação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651760"/>
            <a:ext cx="2450592" cy="242316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907792"/>
            <a:ext cx="2176272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 i="0">
                <a:solidFill>
                  <a:srgbClr val="FCAF26"/>
                </a:solidFill>
                <a:latin typeface="Calibri"/>
              </a:rPr>
              <a:t>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85032"/>
            <a:ext cx="212140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fluxo em 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4160520"/>
            <a:ext cx="2084831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DED3"/>
                </a:solidFill>
                <a:latin typeface="Calibri"/>
              </a:rPr>
              <a:t>play, pause e quatro áreas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651760"/>
            <a:ext cx="2450592" cy="242316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907792"/>
            <a:ext cx="2176272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 i="0">
                <a:solidFill>
                  <a:srgbClr val="FCAF26"/>
                </a:solidFill>
                <a:latin typeface="Calibri"/>
              </a:rPr>
              <a:t>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85032"/>
            <a:ext cx="212140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stream oficial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160520"/>
            <a:ext cx="2084831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DED3"/>
                </a:solidFill>
                <a:latin typeface="Calibri"/>
              </a:rPr>
              <a:t>MP3 em reprodução no emulador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651760"/>
            <a:ext cx="2450592" cy="242316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907792"/>
            <a:ext cx="2176272" cy="6217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 i="0">
                <a:solidFill>
                  <a:srgbClr val="FCAF26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685032"/>
            <a:ext cx="2121408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plataformas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160520"/>
            <a:ext cx="2084831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FFDED3"/>
                </a:solidFill>
                <a:latin typeface="Calibri"/>
              </a:rPr>
              <a:t>Android e iOS preparados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Da POC ao 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Uma evolução em etapas mantém investimento e aprendizado sob controle.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3401568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6858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FCAF2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64992"/>
            <a:ext cx="28346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983B2E"/>
                </a:solidFill>
                <a:latin typeface="Calibri"/>
              </a:rPr>
              <a:t>CONTEÚDO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04487"/>
            <a:ext cx="2834640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705B56"/>
                </a:solidFill>
                <a:latin typeface="Calibri"/>
              </a:rPr>
              <a:t>Grade oficial
Notícias e podcasts
Configuração remota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3675887"/>
            <a:ext cx="34747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983B2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2560320"/>
            <a:ext cx="3401568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761488"/>
            <a:ext cx="6858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F5822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364992"/>
            <a:ext cx="28346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983B2E"/>
                </a:solidFill>
                <a:latin typeface="Calibri"/>
              </a:rPr>
              <a:t>PILOTO CONTROLADO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904487"/>
            <a:ext cx="2834640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705B56"/>
                </a:solidFill>
                <a:latin typeface="Calibri"/>
              </a:rPr>
              <a:t>Teste com ouvintes
Métricas essenciais
Ajustes de experiência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3675887"/>
            <a:ext cx="347472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983B2E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560320"/>
            <a:ext cx="3401568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2761488"/>
            <a:ext cx="6858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DD592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364992"/>
            <a:ext cx="28346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983B2E"/>
                </a:solidFill>
                <a:latin typeface="Calibri"/>
              </a:rPr>
              <a:t>PRODUTO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904487"/>
            <a:ext cx="2834640" cy="10789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705B56"/>
                </a:solidFill>
                <a:latin typeface="Calibri"/>
              </a:rPr>
              <a:t>Backend e perfil
Notificações
Operação e lojas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-182880" y="5943600"/>
            <a:ext cx="523227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0347" y="5998464"/>
            <a:ext cx="523227" cy="40163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3574" y="6038627"/>
            <a:ext cx="523227" cy="14701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386801" y="6038627"/>
            <a:ext cx="523228" cy="14701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910029" y="5998464"/>
            <a:ext cx="523227" cy="40163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433256" y="5943600"/>
            <a:ext cx="523227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956483" y="5888736"/>
            <a:ext cx="523228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479711" y="5848572"/>
            <a:ext cx="523227" cy="401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002938" y="5833872"/>
            <a:ext cx="523227" cy="14700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165" y="5833872"/>
            <a:ext cx="523228" cy="14700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49393" y="5848572"/>
            <a:ext cx="523227" cy="401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2620" y="5888736"/>
            <a:ext cx="523227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5943600"/>
            <a:ext cx="523227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19074" y="5998464"/>
            <a:ext cx="523228" cy="40163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42302" y="6038627"/>
            <a:ext cx="523227" cy="14701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65529" y="6038627"/>
            <a:ext cx="523227" cy="14701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188756" y="5998464"/>
            <a:ext cx="523228" cy="40163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11984" y="5943600"/>
            <a:ext cx="523227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235211" y="5888736"/>
            <a:ext cx="523227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758438" y="5848572"/>
            <a:ext cx="523228" cy="401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281666" y="5833872"/>
            <a:ext cx="523227" cy="14700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04893" y="5833872"/>
            <a:ext cx="523227" cy="14700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328120" y="5848572"/>
            <a:ext cx="523227" cy="401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851347" y="5888736"/>
            <a:ext cx="523228" cy="54864"/>
          </a:xfrm>
          <a:prstGeom prst="line">
            <a:avLst/>
          </a:prstGeom>
          <a:ln w="31750">
            <a:solidFill>
              <a:srgbClr val="FCA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-182880" y="614476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0347" y="6181344"/>
            <a:ext cx="523227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3574" y="6208119"/>
            <a:ext cx="523227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86801" y="6208119"/>
            <a:ext cx="523228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10029" y="6181344"/>
            <a:ext cx="523227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433256" y="614476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956483" y="6108192"/>
            <a:ext cx="523228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479711" y="6081416"/>
            <a:ext cx="523227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02938" y="6071616"/>
            <a:ext cx="523227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26165" y="6071616"/>
            <a:ext cx="523228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49393" y="6081416"/>
            <a:ext cx="523227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72620" y="6108192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5847" y="614476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19074" y="6181344"/>
            <a:ext cx="523228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42302" y="6208119"/>
            <a:ext cx="523227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665529" y="6208119"/>
            <a:ext cx="523227" cy="9801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188756" y="6181344"/>
            <a:ext cx="523228" cy="26775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711984" y="6144768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235211" y="6108192"/>
            <a:ext cx="523227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758438" y="6081416"/>
            <a:ext cx="523228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281666" y="6071616"/>
            <a:ext cx="523227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804893" y="6071616"/>
            <a:ext cx="523227" cy="9800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328120" y="6081416"/>
            <a:ext cx="523227" cy="267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851347" y="6108192"/>
            <a:ext cx="523228" cy="36576"/>
          </a:xfrm>
          <a:prstGeom prst="line">
            <a:avLst/>
          </a:prstGeom>
          <a:ln w="31750">
            <a:solidFill>
              <a:srgbClr val="F582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sagres-am730-logo.jpg"/>
          <p:cNvPicPr>
            <a:picLocks noChangeAspect="1"/>
          </p:cNvPicPr>
          <p:nvPr/>
        </p:nvPicPr>
        <p:blipFill>
          <a:blip r:embed="rId2"/>
          <a:srcRect t="1558" b="1558"/>
          <a:stretch>
            <a:fillRect/>
          </a:stretch>
        </p:blipFill>
        <p:spPr>
          <a:xfrm>
            <a:off x="566928" y="420624"/>
            <a:ext cx="2286000" cy="107899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1792" y="1828800"/>
            <a:ext cx="4937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CAF26"/>
                </a:solidFill>
                <a:latin typeface="Calibri"/>
              </a:rPr>
              <a:t>A próxima decisão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2395728"/>
            <a:ext cx="6675120" cy="1325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Transformar a POC
em um piloto de produto.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005072"/>
            <a:ext cx="580644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FFE2D8"/>
                </a:solidFill>
                <a:latin typeface="Calibri"/>
              </a:rPr>
              <a:t>Alinhar conteúdo real, escopo do piloto e critérios de sucesso com Produto, Tecnologia, Programação e Comercial.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1444752"/>
            <a:ext cx="3977639" cy="4160520"/>
          </a:xfrm>
          <a:prstGeom prst="roundRect">
            <a:avLst/>
          </a:prstGeom>
          <a:solidFill>
            <a:srgbClr val="7B2A21"/>
          </a:solidFill>
          <a:ln>
            <a:solidFill>
              <a:srgbClr val="7B2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1847088"/>
            <a:ext cx="30632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CAF26"/>
                </a:solidFill>
                <a:latin typeface="Calibri"/>
              </a:rPr>
              <a:t>PRÓXIMOS PASSOS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2487168"/>
            <a:ext cx="3063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1. Validar a proposta com áreas-chave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3008376"/>
            <a:ext cx="3063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2. Confirmar fontes de conteúdo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3529584"/>
            <a:ext cx="3063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3. Definir público e duração do piloto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4050791"/>
            <a:ext cx="3063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4. Priorizar evolução técnica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572000"/>
            <a:ext cx="3063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5. Colocar a experiência em campo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6327648"/>
            <a:ext cx="3200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SAGRES • EM TOM MAIOR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>
            <a:solidFill>
              <a:srgbClr val="FF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0350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983B2E"/>
                </a:solidFill>
                <a:latin typeface="Calibri"/>
              </a:rPr>
              <a:t>APÊNDICE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13232"/>
            <a:ext cx="530352" cy="41148"/>
          </a:xfrm>
          <a:prstGeom prst="rect">
            <a:avLst/>
          </a:prstGeom>
          <a:solidFill>
            <a:srgbClr val="FCAF26"/>
          </a:solidFill>
          <a:ln>
            <a:solidFill>
              <a:srgbClr val="FCA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7955279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6231F"/>
                </a:solidFill>
                <a:latin typeface="Calibri"/>
              </a:rPr>
              <a:t>O que é POC e o que é produto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27632"/>
            <a:ext cx="7955279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Transparência para orientar decisão e investimento.</a:t>
            </a:r>
          </a:p>
        </p:txBody>
      </p:sp>
      <p:pic>
        <p:nvPicPr>
          <p:cNvPr id="7" name="Picture 6" descr="sagres-am730-logo.jpg"/>
          <p:cNvPicPr>
            <a:picLocks noChangeAspect="1"/>
          </p:cNvPicPr>
          <p:nvPr/>
        </p:nvPicPr>
        <p:blipFill>
          <a:blip r:embed="rId2"/>
          <a:srcRect t="5263" b="5263"/>
          <a:stretch>
            <a:fillRect/>
          </a:stretch>
        </p:blipFill>
        <p:spPr>
          <a:xfrm>
            <a:off x="10012680" y="246888"/>
            <a:ext cx="178308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705B56"/>
                </a:solidFill>
                <a:latin typeface="Calibri"/>
              </a:rPr>
              <a:t>POC APP SAGRES • APRESENTAÇÃO COMERCIAL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02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705B56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04872"/>
            <a:ext cx="52303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2404872"/>
            <a:ext cx="5230368" cy="2926080"/>
          </a:xfrm>
          <a:prstGeom prst="roundRect">
            <a:avLst/>
          </a:prstGeom>
          <a:solidFill>
            <a:srgbClr val="983B2E"/>
          </a:solidFill>
          <a:ln>
            <a:solidFill>
              <a:srgbClr val="98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480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983B2E"/>
                </a:solidFill>
                <a:latin typeface="Calibri"/>
              </a:rPr>
              <a:t>POC ATUAL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46120"/>
            <a:ext cx="4343400" cy="1600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705B56"/>
                </a:solidFill>
                <a:latin typeface="Calibri"/>
              </a:rPr>
              <a:t>✓ Rádio ao vivo
✓ Segundo plano
✓ Estados e animações
✓ Navegação demonstrativa
✓ Testes automatizados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4805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CAF26"/>
                </a:solidFill>
                <a:latin typeface="Calibri"/>
              </a:rPr>
              <a:t>PRODUTO FUTURO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343400" cy="1600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○ Conteúdo editorial real
○ Backend e configuração remota
○ Perfil e preferências
○ Métricas e notificações
○ Operação, segurança e lojas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806440"/>
            <a:ext cx="97840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983B2E"/>
                </a:solidFill>
                <a:latin typeface="Calibri"/>
              </a:rPr>
              <a:t>Premissa: qualquer projeção comercial depende da definição do produto, audiência e modelo de operação.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Sagres no bolso — POC App Rádio Sagres</dc:title>
  <dc:subject>Apresentação comercial e didática da POC Flutter</dc:subject>
  <dc:creator>Instituto Sagres</dc:creator>
  <cp:keywords>Sagres, rádio, Flutter, POC, aplicativo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